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371600"/>
            <a:ext cx="4389120" cy="4389120"/>
          </a:xfrm>
          <a:prstGeom prst="ellipse">
            <a:avLst/>
          </a:prstGeom>
          <a:solidFill>
            <a:srgbClr val="7FA75B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35240" y="1051560"/>
            <a:ext cx="1965960" cy="1965960"/>
          </a:xfrm>
          <a:prstGeom prst="ellipse">
            <a:avLst/>
          </a:prstGeom>
          <a:solidFill>
            <a:srgbClr val="7FA75B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537960" y="2788920"/>
            <a:ext cx="1417320" cy="1417320"/>
          </a:xfrm>
          <a:prstGeom prst="ellipse">
            <a:avLst/>
          </a:prstGeom>
          <a:solidFill>
            <a:srgbClr val="24382D">
              <a:alpha val="0"/>
            </a:srgbClr>
          </a:solidFill>
          <a:ln w="15875">
            <a:solidFill>
              <a:srgbClr val="C7A4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3611880"/>
            <a:ext cx="365760" cy="365760"/>
          </a:xfrm>
          <a:prstGeom prst="ellipse">
            <a:avLst/>
          </a:prstGeom>
          <a:solidFill>
            <a:srgbClr val="C7A45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98448"/>
            <a:ext cx="91440" cy="91440"/>
          </a:xfrm>
          <a:prstGeom prst="rect">
            <a:avLst/>
          </a:prstGeom>
          <a:solidFill>
            <a:srgbClr val="C7A45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C7A4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HARBOR CAFE — COMPETITIVE REVIEW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6916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2EFE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주변 경쟁 카페 분석</a:t>
            </a:r>
            <a:endParaRPr lang="en-US" sz="47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8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반경 500m 상권 · 카페 4곳 비교와 하버 카페의 차별화 전략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2026. 07  |  하버 카페 마케팅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82296"/>
          </a:xfrm>
          <a:prstGeom prst="rect">
            <a:avLst/>
          </a:prstGeom>
          <a:solidFill>
            <a:srgbClr val="C7A45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A91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MARKET 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C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시장 개요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78608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3A3A3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64008" cy="2057400"/>
          </a:xfrm>
          <a:prstGeom prst="rect">
            <a:avLst/>
          </a:prstGeom>
          <a:solidFill>
            <a:srgbClr val="7FA75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19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A91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반경 500m 내 카페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0299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C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4곳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2907792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551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하버 카페 포함, 도보 5분 생활권 경쟁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82696" y="1463040"/>
            <a:ext cx="2578608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3A3A3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82696" y="1463040"/>
            <a:ext cx="64008" cy="2057400"/>
          </a:xfrm>
          <a:prstGeom prst="rect">
            <a:avLst/>
          </a:prstGeom>
          <a:solidFill>
            <a:srgbClr val="7FA75B"/>
          </a:solidFill>
          <a:ln/>
        </p:spPr>
      </p:sp>
      <p:sp>
        <p:nvSpPr>
          <p:cNvPr id="12" name="Text 10"/>
          <p:cNvSpPr/>
          <p:nvPr/>
        </p:nvSpPr>
        <p:spPr>
          <a:xfrm>
            <a:off x="3557016" y="1719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A91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평균 아메리카노 가격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57016" y="20299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C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4,500원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557016" y="2907792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551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경쟁가 4,000~5,000원 사이에 밀집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16752" y="1463040"/>
            <a:ext cx="2578608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3A3A3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16752" y="1463040"/>
            <a:ext cx="64008" cy="2057400"/>
          </a:xfrm>
          <a:prstGeom prst="rect">
            <a:avLst/>
          </a:prstGeom>
          <a:solidFill>
            <a:srgbClr val="7FA75B"/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1719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A91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고객층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91072" y="20299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C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직장인 · 대학생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291072" y="2907792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551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오피스·캠퍼스 혼합 상권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41648"/>
            <a:ext cx="82296" cy="82296"/>
          </a:xfrm>
          <a:prstGeom prst="rect">
            <a:avLst/>
          </a:prstGeom>
          <a:solidFill>
            <a:srgbClr val="C7A45E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9136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C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 차이는 크지 않은 상권 — 승부는 시그니처 메뉴와 인지도에서 갈린다.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8097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1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하버 카페 · 경쟁 카페 분석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0" y="48097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82296"/>
          </a:xfrm>
          <a:prstGeom prst="rect">
            <a:avLst/>
          </a:prstGeom>
          <a:solidFill>
            <a:srgbClr val="C7A45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A91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COMPETITOR COMPARISON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C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경쟁사 비교</a:t>
            </a:r>
            <a:endParaRPr lang="en-US" sz="2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188720"/>
                <a:gridCol w="1097280"/>
                <a:gridCol w="1645920"/>
                <a:gridCol w="16916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1EE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카페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6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1EE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아메리카노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6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1EE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시그니처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6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1EE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인스타 팔로워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6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1EE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강점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6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1EE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약점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64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C2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  빈브라더스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5,000원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핸드드립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8,200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원두 퀄리티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가격 높음 · 좌석 적음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C2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B  카페모노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4,000원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대용량 라떼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3,100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가성비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디저트 약함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C2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  스윗아워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4,800원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수제 디저트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12,500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디저트 · 인스타 강함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커피맛 평범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E664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하버 카페 (우리)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4,500원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말차라떼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2,400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균형 · 친절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5514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인지도 낮음 · 웨이팅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D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79392"/>
            <a:ext cx="82296" cy="82296"/>
          </a:xfrm>
          <a:prstGeom prst="rect">
            <a:avLst/>
          </a:prstGeom>
          <a:solidFill>
            <a:srgbClr val="C7A45E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5137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C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C는 디저트·인스타, B는 가성비 — 우리의 '균형 + 친절'은 방향은 맞지만 아직 약하다.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8097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1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하버 카페 · 경쟁 카페 분석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229600" y="48097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82296"/>
          </a:xfrm>
          <a:prstGeom prst="rect">
            <a:avLst/>
          </a:prstGeom>
          <a:solidFill>
            <a:srgbClr val="C7A45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A91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AWARENESS GAP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C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인지도 격차 — 인스타 팔로워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551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  스윗아워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938528" y="1627632"/>
            <a:ext cx="3246120" cy="310896"/>
          </a:xfrm>
          <a:prstGeom prst="rect">
            <a:avLst/>
          </a:prstGeom>
          <a:solidFill>
            <a:srgbClr val="3E6647"/>
          </a:solidFill>
          <a:ln/>
        </p:spPr>
      </p:sp>
      <p:sp>
        <p:nvSpPr>
          <p:cNvPr id="7" name="Text 5"/>
          <p:cNvSpPr/>
          <p:nvPr/>
        </p:nvSpPr>
        <p:spPr>
          <a:xfrm>
            <a:off x="5266944" y="16002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C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12,500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7685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1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  빈브라더스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938528" y="2304288"/>
            <a:ext cx="2129455" cy="310896"/>
          </a:xfrm>
          <a:prstGeom prst="rect">
            <a:avLst/>
          </a:prstGeom>
          <a:solidFill>
            <a:srgbClr val="BCC6AE"/>
          </a:solidFill>
          <a:ln/>
        </p:spPr>
      </p:sp>
      <p:sp>
        <p:nvSpPr>
          <p:cNvPr id="10" name="Text 8"/>
          <p:cNvSpPr/>
          <p:nvPr/>
        </p:nvSpPr>
        <p:spPr>
          <a:xfrm>
            <a:off x="4150279" y="227685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C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8,200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535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1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  카페모노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938528" y="2980944"/>
            <a:ext cx="805038" cy="310896"/>
          </a:xfrm>
          <a:prstGeom prst="rect">
            <a:avLst/>
          </a:prstGeom>
          <a:solidFill>
            <a:srgbClr val="BCC6AE"/>
          </a:solidFill>
          <a:ln/>
        </p:spPr>
      </p:sp>
      <p:sp>
        <p:nvSpPr>
          <p:cNvPr id="13" name="Text 11"/>
          <p:cNvSpPr/>
          <p:nvPr/>
        </p:nvSpPr>
        <p:spPr>
          <a:xfrm>
            <a:off x="2825862" y="295351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C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3,100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6301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하버 카페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938528" y="3657600"/>
            <a:ext cx="623255" cy="310896"/>
          </a:xfrm>
          <a:prstGeom prst="rect">
            <a:avLst/>
          </a:prstGeom>
          <a:solidFill>
            <a:srgbClr val="7FA75B"/>
          </a:solidFill>
          <a:ln/>
        </p:spPr>
      </p:sp>
      <p:sp>
        <p:nvSpPr>
          <p:cNvPr id="16" name="Text 14"/>
          <p:cNvSpPr/>
          <p:nvPr/>
        </p:nvSpPr>
        <p:spPr>
          <a:xfrm>
            <a:off x="2644079" y="363016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C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2,400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7583" y="3694176"/>
            <a:ext cx="457200" cy="246888"/>
          </a:xfrm>
          <a:prstGeom prst="roundRect">
            <a:avLst>
              <a:gd name="adj" fmla="val 44444"/>
            </a:avLst>
          </a:prstGeom>
          <a:solidFill>
            <a:srgbClr val="C7A4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38528" y="1536192"/>
            <a:ext cx="0" cy="2880360"/>
          </a:xfrm>
          <a:prstGeom prst="line">
            <a:avLst/>
          </a:prstGeom>
          <a:noFill/>
          <a:ln w="12700">
            <a:solidFill>
              <a:srgbClr val="E3DF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38528" y="44439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인스타그램 팔로워 수 (명)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60720" y="1536192"/>
            <a:ext cx="283464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3A3A3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60720" y="1536192"/>
            <a:ext cx="64008" cy="2880360"/>
          </a:xfrm>
          <a:prstGeom prst="rect">
            <a:avLst/>
          </a:prstGeom>
          <a:solidFill>
            <a:srgbClr val="BC5F4A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1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1위와 우리의 격차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35040" y="206654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C5F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5.2배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035040" y="28529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스윗아워 12,500  vs  하버 2,400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35040" y="32461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551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인지도가 가장 큰 열세 축.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551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인플루언서 협업으로 격차를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E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좁힌다  (추천 액션 ②)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8097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1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하버 카페 · 경쟁 카페 분석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29600" y="48097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82296"/>
          </a:xfrm>
          <a:prstGeom prst="rect">
            <a:avLst/>
          </a:prstGeom>
          <a:solidFill>
            <a:srgbClr val="C7A45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A91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DIFFERENTIATION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C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우리의 차별화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C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위치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82296" cy="82296"/>
          </a:xfrm>
          <a:prstGeom prst="rect">
            <a:avLst/>
          </a:prstGeom>
          <a:solidFill>
            <a:srgbClr val="7FA7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551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인지도 최하위 — 팔로워 2,400명, 1위의 1/5 수준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642616"/>
            <a:ext cx="82296" cy="82296"/>
          </a:xfrm>
          <a:prstGeom prst="rect">
            <a:avLst/>
          </a:prstGeom>
          <a:solidFill>
            <a:srgbClr val="7FA75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328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551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포지션은 '균형 + 친절' — 방향은 맞지만 아직 약함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392424"/>
            <a:ext cx="82296" cy="82296"/>
          </a:xfrm>
          <a:prstGeom prst="rect">
            <a:avLst/>
          </a:prstGeom>
          <a:solidFill>
            <a:srgbClr val="7FA75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8269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551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웨이팅은 상권 공통 약점이자 우리 리뷰 불만 1위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34840" y="1371600"/>
            <a:ext cx="416052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3A3A3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371600"/>
            <a:ext cx="64008" cy="1444752"/>
          </a:xfrm>
          <a:prstGeom prst="rect">
            <a:avLst/>
          </a:prstGeom>
          <a:solidFill>
            <a:srgbClr val="7FA75B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527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7A4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차별화 ①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177393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C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말차라떼 × 디저트 세트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709160" y="217627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551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시그니처에 디저트를 붙여 '디저트 강자' 스윗아워와 정면승부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34840" y="2999232"/>
            <a:ext cx="416052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3A3A3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34840" y="2999232"/>
            <a:ext cx="64008" cy="1444752"/>
          </a:xfrm>
          <a:prstGeom prst="rect">
            <a:avLst/>
          </a:prstGeom>
          <a:solidFill>
            <a:srgbClr val="7FA75B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3154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7A4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차별화 ②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340156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C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인플루언서 협업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709160" y="380390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551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마이크로 인플루언서 3~5명으로 인지도 격차 축소 — 홍보 캠페인의 출발점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8097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1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하버 카페 · 경쟁 카페 분석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0" y="48097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3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82296"/>
          </a:xfrm>
          <a:prstGeom prst="rect">
            <a:avLst/>
          </a:prstGeom>
          <a:solidFill>
            <a:srgbClr val="C7A45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7A4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NEXT ACTIONS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FE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추천 액션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78608" cy="2514600"/>
          </a:xfrm>
          <a:prstGeom prst="rect">
            <a:avLst/>
          </a:prstGeom>
          <a:solidFill>
            <a:srgbClr val="2F4A3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64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A4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EFE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디저트 세트 출시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871216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8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객단가 상승 + 디저트 강자 스윗아워 견제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82696" y="1417320"/>
            <a:ext cx="2578608" cy="2514600"/>
          </a:xfrm>
          <a:prstGeom prst="rect">
            <a:avLst/>
          </a:prstGeom>
          <a:solidFill>
            <a:srgbClr val="2F4A3A"/>
          </a:solidFill>
          <a:ln/>
        </p:spPr>
      </p:sp>
      <p:sp>
        <p:nvSpPr>
          <p:cNvPr id="10" name="Text 8"/>
          <p:cNvSpPr/>
          <p:nvPr/>
        </p:nvSpPr>
        <p:spPr>
          <a:xfrm>
            <a:off x="3538728" y="1664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A4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38728" y="22128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EFE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인플루언서 3~5명 협업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538728" y="2871216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8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인지도 격차 축소 — 리뷰·태그로 신규 유입 확보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38728" y="3547872"/>
            <a:ext cx="1481328" cy="274320"/>
          </a:xfrm>
          <a:prstGeom prst="roundRect">
            <a:avLst>
              <a:gd name="adj" fmla="val 40000"/>
            </a:avLst>
          </a:prstGeom>
          <a:solidFill>
            <a:srgbClr val="C7A4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35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홍보 편으로 이어짐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16752" y="1417320"/>
            <a:ext cx="2578608" cy="2514600"/>
          </a:xfrm>
          <a:prstGeom prst="rect">
            <a:avLst/>
          </a:prstGeom>
          <a:solidFill>
            <a:srgbClr val="2F4A3A"/>
          </a:solidFill>
          <a:ln/>
        </p:spPr>
      </p:sp>
      <p:sp>
        <p:nvSpPr>
          <p:cNvPr id="15" name="Text 13"/>
          <p:cNvSpPr/>
          <p:nvPr/>
        </p:nvSpPr>
        <p:spPr>
          <a:xfrm>
            <a:off x="6272784" y="1664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A4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72784" y="22128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EFE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피크타임 대기 동선 개선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272784" y="2871216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8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상권 공통 약점 해소, 우리 리뷰 불만 1위 대응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2245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가지 모두 '인지도 낮음 · 웨이팅'이라는 우리 약점과 직결 — ②가 다음 홍보 캠페인의 시작점이 된다.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8097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하버 카페 · 경쟁 카페 분석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29600" y="48097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하버 카페 경쟁 카페 분석</dc:title>
  <dc:subject>PptxGenJS Presentation</dc:subject>
  <dc:creator>하버 카페</dc:creator>
  <cp:lastModifiedBy>하버 카페</cp:lastModifiedBy>
  <cp:revision>1</cp:revision>
  <dcterms:created xsi:type="dcterms:W3CDTF">2026-07-13T13:32:35Z</dcterms:created>
  <dcterms:modified xsi:type="dcterms:W3CDTF">2026-07-13T13:32:35Z</dcterms:modified>
</cp:coreProperties>
</file>